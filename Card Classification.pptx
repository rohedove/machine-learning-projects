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0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7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53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6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0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5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1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2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8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3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78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8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21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70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62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31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9613" y="1424569"/>
            <a:ext cx="6284774" cy="1554269"/>
          </a:xfrm>
        </p:spPr>
        <p:txBody>
          <a:bodyPr/>
          <a:lstStyle/>
          <a:p>
            <a:pPr algn="ctr"/>
            <a:r>
              <a:rPr sz="3600" b="1" smtClean="0"/>
              <a:t>Card</a:t>
            </a:r>
            <a:r>
              <a:rPr lang="en-US" sz="3600" b="1" smtClean="0"/>
              <a:t> </a:t>
            </a:r>
            <a:r>
              <a:rPr sz="3600" b="1" dirty="0" smtClean="0"/>
              <a:t>Classification </a:t>
            </a:r>
            <a:r>
              <a:rPr lang="en-US" sz="3600" b="1" dirty="0" smtClean="0"/>
              <a:t>U</a:t>
            </a:r>
            <a:r>
              <a:rPr sz="3600" b="1" dirty="0" smtClean="0"/>
              <a:t>sing </a:t>
            </a:r>
            <a:r>
              <a:rPr sz="3600" b="1" dirty="0"/>
              <a:t>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3161" y="3885482"/>
            <a:ext cx="5917679" cy="861420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solidFill>
                  <a:schemeClr val="bg2"/>
                </a:solidFill>
              </a:rPr>
              <a:t>Dual-Model Approach </a:t>
            </a:r>
            <a:r>
              <a:rPr b="1" dirty="0" smtClean="0">
                <a:solidFill>
                  <a:schemeClr val="bg2"/>
                </a:solidFill>
              </a:rPr>
              <a:t>with</a:t>
            </a:r>
            <a:endParaRPr lang="en-US" b="1" dirty="0" smtClean="0">
              <a:solidFill>
                <a:schemeClr val="bg2"/>
              </a:solidFill>
            </a:endParaRPr>
          </a:p>
          <a:p>
            <a:pPr algn="ctr"/>
            <a:r>
              <a:rPr b="1" dirty="0" smtClean="0">
                <a:solidFill>
                  <a:schemeClr val="bg2"/>
                </a:solidFill>
              </a:rPr>
              <a:t>MobileNetV2 </a:t>
            </a:r>
            <a:r>
              <a:rPr b="1" dirty="0">
                <a:solidFill>
                  <a:schemeClr val="bg2"/>
                </a:solidFill>
              </a:rPr>
              <a:t>&amp; </a:t>
            </a:r>
            <a:r>
              <a:rPr b="1" dirty="0" smtClean="0">
                <a:solidFill>
                  <a:schemeClr val="bg2"/>
                </a:solidFill>
              </a:rPr>
              <a:t>DenseNet-201</a:t>
            </a:r>
            <a:endParaRPr b="1" dirty="0">
              <a:solidFill>
                <a:schemeClr val="bg2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243584" y="3429000"/>
            <a:ext cx="6656832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9613" y="1424569"/>
            <a:ext cx="6284774" cy="1554269"/>
          </a:xfrm>
        </p:spPr>
        <p:txBody>
          <a:bodyPr/>
          <a:lstStyle/>
          <a:p>
            <a:pPr algn="ctr"/>
            <a:r>
              <a:rPr lang="en-US" sz="3600" b="1" dirty="0"/>
              <a:t>🎓 Team Introduction</a:t>
            </a:r>
            <a:endParaRPr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1" y="3429000"/>
            <a:ext cx="7671816" cy="2798064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👤 Rohed Deb </a:t>
            </a:r>
            <a:r>
              <a:rPr lang="en-US" sz="2000" b="1" dirty="0" smtClean="0">
                <a:solidFill>
                  <a:schemeClr val="bg2"/>
                </a:solidFill>
              </a:rPr>
              <a:t>Ove</a:t>
            </a:r>
            <a:endParaRPr lang="en-US" sz="2000" b="1" dirty="0">
              <a:solidFill>
                <a:schemeClr val="bg2"/>
              </a:solidFill>
            </a:endParaRPr>
          </a:p>
          <a:p>
            <a:pPr algn="ctr"/>
            <a:r>
              <a:rPr lang="en-US" sz="2000" b="1" dirty="0" smtClean="0">
                <a:solidFill>
                  <a:schemeClr val="bg2"/>
                </a:solidFill>
              </a:rPr>
              <a:t>🆔 : 2104010202296</a:t>
            </a:r>
          </a:p>
          <a:p>
            <a:pPr algn="ctr"/>
            <a:r>
              <a:rPr lang="en-US" sz="2000" b="1" dirty="0" smtClean="0">
                <a:solidFill>
                  <a:schemeClr val="bg2"/>
                </a:solidFill>
              </a:rPr>
              <a:t>👤 </a:t>
            </a:r>
            <a:r>
              <a:rPr lang="en-US" sz="2000" b="1" dirty="0">
                <a:solidFill>
                  <a:schemeClr val="bg2"/>
                </a:solidFill>
              </a:rPr>
              <a:t>Tamjidul </a:t>
            </a:r>
            <a:r>
              <a:rPr lang="en-US" sz="2000" b="1" dirty="0" smtClean="0">
                <a:solidFill>
                  <a:schemeClr val="bg2"/>
                </a:solidFill>
              </a:rPr>
              <a:t>Hasan</a:t>
            </a:r>
          </a:p>
          <a:p>
            <a:pPr algn="ctr"/>
            <a:r>
              <a:rPr lang="en-US" sz="2000" b="1" dirty="0" smtClean="0">
                <a:solidFill>
                  <a:schemeClr val="bg2"/>
                </a:solidFill>
              </a:rPr>
              <a:t>🆔 : </a:t>
            </a:r>
            <a:r>
              <a:rPr lang="en-US" sz="2000" b="1" dirty="0">
                <a:solidFill>
                  <a:schemeClr val="bg2"/>
                </a:solidFill>
              </a:rPr>
              <a:t>2104010202285</a:t>
            </a:r>
            <a:endParaRPr sz="2000" b="1" dirty="0">
              <a:solidFill>
                <a:schemeClr val="bg2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048256" y="3182112"/>
            <a:ext cx="5047488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642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688562" cy="3847592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🔍 </a:t>
            </a:r>
            <a:r>
              <a:rPr b="1" dirty="0" smtClean="0"/>
              <a:t>Project </a:t>
            </a:r>
            <a:r>
              <a:rPr b="1" dirty="0"/>
              <a:t>Importance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Automated card recognition for gaming industry</a:t>
            </a:r>
          </a:p>
          <a:p>
            <a:r>
              <a:rPr dirty="0"/>
              <a:t>• Accessibility tools for visually impaired players</a:t>
            </a:r>
          </a:p>
          <a:p>
            <a:r>
              <a:rPr dirty="0"/>
              <a:t>• Casino automation and security systems</a:t>
            </a:r>
          </a:p>
          <a:p>
            <a:r>
              <a:rPr dirty="0"/>
              <a:t>• AI-powered card game analysis</a:t>
            </a:r>
          </a:p>
          <a:p>
            <a:endParaRPr dirty="0"/>
          </a:p>
          <a:p>
            <a:r>
              <a:rPr b="1" dirty="0"/>
              <a:t>🎯 </a:t>
            </a:r>
            <a:r>
              <a:rPr b="1" dirty="0" smtClean="0"/>
              <a:t>Real-world </a:t>
            </a:r>
            <a:r>
              <a:rPr b="1" dirty="0"/>
              <a:t>Applications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Mobile gaming applications</a:t>
            </a:r>
          </a:p>
          <a:p>
            <a:r>
              <a:rPr dirty="0"/>
              <a:t>• Educational tools for card games</a:t>
            </a:r>
          </a:p>
          <a:p>
            <a:r>
              <a:rPr dirty="0"/>
              <a:t>• Fraud detection in gambling establishments</a:t>
            </a:r>
          </a:p>
          <a:p>
            <a:r>
              <a:rPr dirty="0"/>
              <a:t>• Digital card game assistants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Workflow</a:t>
            </a:r>
          </a:p>
        </p:txBody>
      </p:sp>
      <p:pic>
        <p:nvPicPr>
          <p:cNvPr id="21" name="Content Placeholder 2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12" y="1932828"/>
            <a:ext cx="8604176" cy="471141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109186" cy="3774440"/>
          </a:xfrm>
        </p:spPr>
        <p:txBody>
          <a:bodyPr>
            <a:normAutofit fontScale="92500" lnSpcReduction="10000"/>
          </a:bodyPr>
          <a:lstStyle/>
          <a:p>
            <a:r>
              <a:rPr b="1" dirty="0" smtClean="0"/>
              <a:t>Cards </a:t>
            </a:r>
            <a:r>
              <a:rPr b="1" dirty="0"/>
              <a:t>Image </a:t>
            </a:r>
            <a:r>
              <a:rPr b="1" dirty="0" smtClean="0"/>
              <a:t>Dataset</a:t>
            </a:r>
            <a:endParaRPr b="1" dirty="0"/>
          </a:p>
          <a:p>
            <a:endParaRPr sz="1200" dirty="0"/>
          </a:p>
          <a:p>
            <a:r>
              <a:rPr b="1" dirty="0" smtClean="0"/>
              <a:t>Dataset </a:t>
            </a:r>
            <a:r>
              <a:rPr b="1" dirty="0"/>
              <a:t>Statistics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Total Classes: 53 playing card categories</a:t>
            </a:r>
          </a:p>
          <a:p>
            <a:r>
              <a:rPr dirty="0"/>
              <a:t>• Image Size: 224×224×3</a:t>
            </a:r>
          </a:p>
          <a:p>
            <a:r>
              <a:rPr dirty="0"/>
              <a:t>• Data Split: Train (70%) / Validation (15%) / Test (15%)</a:t>
            </a:r>
          </a:p>
          <a:p>
            <a:endParaRPr sz="1100" dirty="0"/>
          </a:p>
          <a:p>
            <a:r>
              <a:rPr b="1" dirty="0" smtClean="0"/>
              <a:t>Key </a:t>
            </a:r>
            <a:r>
              <a:rPr b="1" dirty="0"/>
              <a:t>Features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Balanced class distribution</a:t>
            </a:r>
          </a:p>
          <a:p>
            <a:r>
              <a:rPr dirty="0"/>
              <a:t>• Multiple orientations and lighting</a:t>
            </a:r>
          </a:p>
          <a:p>
            <a:r>
              <a:rPr dirty="0"/>
              <a:t>• Real-world card variations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CNN Architecture Overview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0283" y="1373470"/>
            <a:ext cx="10824566" cy="511356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3264408"/>
            <a:ext cx="3636980" cy="3331467"/>
          </a:xfrm>
        </p:spPr>
        <p:txBody>
          <a:bodyPr>
            <a:normAutofit/>
          </a:bodyPr>
          <a:lstStyle/>
          <a:p>
            <a:r>
              <a:rPr b="1" dirty="0" smtClean="0"/>
              <a:t>Augmentation </a:t>
            </a:r>
            <a:r>
              <a:rPr b="1" dirty="0"/>
              <a:t>Techniques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Horizontal/Vertical flips</a:t>
            </a:r>
          </a:p>
          <a:p>
            <a:r>
              <a:rPr dirty="0"/>
              <a:t>• Rotation (±20°)</a:t>
            </a:r>
          </a:p>
          <a:p>
            <a:r>
              <a:rPr dirty="0"/>
              <a:t>• Zoom (80-120%)</a:t>
            </a:r>
          </a:p>
          <a:p>
            <a:r>
              <a:rPr dirty="0"/>
              <a:t>• Brightness adjustment</a:t>
            </a:r>
          </a:p>
          <a:p>
            <a:endParaRPr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0581" y="3264408"/>
            <a:ext cx="3636980" cy="3530600"/>
          </a:xfrm>
        </p:spPr>
        <p:txBody>
          <a:bodyPr>
            <a:normAutofit/>
          </a:bodyPr>
          <a:lstStyle/>
          <a:p>
            <a:r>
              <a:rPr lang="en-US" b="1" dirty="0"/>
              <a:t>Filter Applications:</a:t>
            </a:r>
          </a:p>
          <a:p>
            <a:r>
              <a:rPr lang="en-US" dirty="0"/>
              <a:t>• Median &amp; Gaussian blur</a:t>
            </a:r>
          </a:p>
          <a:p>
            <a:r>
              <a:rPr lang="en-US" dirty="0"/>
              <a:t>• Edge detection (Canny)</a:t>
            </a:r>
          </a:p>
          <a:p>
            <a:r>
              <a:rPr lang="en-US" dirty="0"/>
              <a:t>• Sharpening filters</a:t>
            </a:r>
          </a:p>
          <a:p>
            <a:r>
              <a:rPr lang="en-US" dirty="0"/>
              <a:t>• Embossing effects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684930" y="2595110"/>
            <a:ext cx="3821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🛠Comprehensive Preprocessing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Hyperparameter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3001264"/>
            <a:ext cx="3636980" cy="3530603"/>
          </a:xfrm>
        </p:spPr>
        <p:txBody>
          <a:bodyPr>
            <a:noAutofit/>
          </a:bodyPr>
          <a:lstStyle/>
          <a:p>
            <a:r>
              <a:rPr b="1" dirty="0" smtClean="0"/>
              <a:t>Parameters:</a:t>
            </a:r>
            <a:endParaRPr b="1" dirty="0"/>
          </a:p>
          <a:p>
            <a:r>
              <a:rPr dirty="0"/>
              <a:t>• Learning Rate: 1e-4</a:t>
            </a:r>
          </a:p>
          <a:p>
            <a:r>
              <a:rPr dirty="0"/>
              <a:t>• Batch Size: 32</a:t>
            </a:r>
          </a:p>
          <a:p>
            <a:r>
              <a:rPr dirty="0"/>
              <a:t>• Epochs: 20-25</a:t>
            </a:r>
          </a:p>
          <a:p>
            <a:r>
              <a:rPr dirty="0"/>
              <a:t>• Dropout Rate: </a:t>
            </a:r>
            <a:r>
              <a:rPr dirty="0" smtClean="0"/>
              <a:t>0.5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0581" y="3001267"/>
            <a:ext cx="3636980" cy="3530600"/>
          </a:xfrm>
        </p:spPr>
        <p:txBody>
          <a:bodyPr>
            <a:normAutofit/>
          </a:bodyPr>
          <a:lstStyle/>
          <a:p>
            <a:r>
              <a:rPr lang="en-US" b="1" dirty="0"/>
              <a:t>Training Configuration:</a:t>
            </a:r>
          </a:p>
          <a:p>
            <a:r>
              <a:rPr lang="en-US" dirty="0"/>
              <a:t>• Optimizer: Adam</a:t>
            </a:r>
          </a:p>
          <a:p>
            <a:r>
              <a:rPr lang="en-US" dirty="0"/>
              <a:t>• Loss: </a:t>
            </a:r>
            <a:r>
              <a:rPr lang="en-US" dirty="0" smtClean="0"/>
              <a:t>Categorical  </a:t>
            </a:r>
            <a:r>
              <a:rPr lang="en-US" dirty="0" err="1" smtClean="0"/>
              <a:t>Crossentropy</a:t>
            </a:r>
            <a:endParaRPr lang="en-US" dirty="0"/>
          </a:p>
          <a:p>
            <a:r>
              <a:rPr lang="en-US" dirty="0"/>
              <a:t>• Callbacks: </a:t>
            </a:r>
            <a:r>
              <a:rPr lang="en-US" dirty="0" err="1"/>
              <a:t>EarlyStopping</a:t>
            </a:r>
            <a:r>
              <a:rPr lang="en-US" dirty="0"/>
              <a:t>, </a:t>
            </a:r>
            <a:r>
              <a:rPr lang="en-US" dirty="0" err="1"/>
              <a:t>ReduceLROnPlateau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Segmentation Strategy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2279160"/>
            <a:ext cx="7163487" cy="3344399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428" y="3094733"/>
            <a:ext cx="3870152" cy="3530603"/>
          </a:xfrm>
        </p:spPr>
        <p:txBody>
          <a:bodyPr>
            <a:noAutofit/>
          </a:bodyPr>
          <a:lstStyle/>
          <a:p>
            <a:r>
              <a:rPr sz="1700" b="1" dirty="0" smtClean="0"/>
              <a:t>Evaluation </a:t>
            </a:r>
            <a:r>
              <a:rPr sz="1700" b="1" dirty="0"/>
              <a:t>Metrics</a:t>
            </a:r>
            <a:r>
              <a:rPr sz="1700" b="1" dirty="0" smtClean="0"/>
              <a:t>:</a:t>
            </a:r>
            <a:endParaRPr sz="1700" b="1" dirty="0"/>
          </a:p>
          <a:p>
            <a:r>
              <a:rPr sz="1700" dirty="0"/>
              <a:t>• Training/Validation Accuracy</a:t>
            </a:r>
          </a:p>
          <a:p>
            <a:r>
              <a:rPr sz="1700" dirty="0"/>
              <a:t>• Training/Validation Loss</a:t>
            </a:r>
          </a:p>
          <a:p>
            <a:r>
              <a:rPr sz="1700" dirty="0"/>
              <a:t>• Test Accuracy</a:t>
            </a:r>
          </a:p>
          <a:p>
            <a:r>
              <a:rPr sz="1700" dirty="0"/>
              <a:t>• Confusion Matrix</a:t>
            </a:r>
          </a:p>
          <a:p>
            <a:r>
              <a:rPr sz="1700" dirty="0"/>
              <a:t>• ROC </a:t>
            </a:r>
            <a:r>
              <a:rPr sz="1700" dirty="0" smtClean="0"/>
              <a:t>Curves</a:t>
            </a:r>
            <a:endParaRPr sz="17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351" y="3094733"/>
            <a:ext cx="3872484" cy="3530600"/>
          </a:xfrm>
        </p:spPr>
        <p:txBody>
          <a:bodyPr>
            <a:normAutofit/>
          </a:bodyPr>
          <a:lstStyle/>
          <a:p>
            <a:r>
              <a:rPr lang="en-US" sz="1700" b="1" dirty="0"/>
              <a:t>Model Comparison:</a:t>
            </a:r>
          </a:p>
          <a:p>
            <a:r>
              <a:rPr lang="en-US" sz="1700" dirty="0"/>
              <a:t>• MobileNetV2 </a:t>
            </a:r>
            <a:r>
              <a:rPr lang="en-US" sz="1700" dirty="0" err="1"/>
              <a:t>vs</a:t>
            </a:r>
            <a:r>
              <a:rPr lang="en-US" sz="1700" dirty="0"/>
              <a:t> DenseNet-201</a:t>
            </a:r>
          </a:p>
          <a:p>
            <a:r>
              <a:rPr lang="en-US" sz="1700" dirty="0"/>
              <a:t>• Feature extraction capabilities</a:t>
            </a:r>
          </a:p>
          <a:p>
            <a:r>
              <a:rPr lang="en-US" sz="1700" dirty="0"/>
              <a:t>• Convergence behavior</a:t>
            </a:r>
          </a:p>
          <a:p>
            <a:endParaRPr lang="en-US" sz="1700" dirty="0"/>
          </a:p>
        </p:txBody>
      </p:sp>
      <p:sp>
        <p:nvSpPr>
          <p:cNvPr id="5" name="Rectangle 4"/>
          <p:cNvSpPr/>
          <p:nvPr/>
        </p:nvSpPr>
        <p:spPr>
          <a:xfrm>
            <a:off x="2526408" y="2458448"/>
            <a:ext cx="4091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🎯 Training &amp; Evaluation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 </a:t>
            </a:r>
            <a:r>
              <a:rPr b="1" dirty="0" smtClean="0"/>
              <a:t>Analysis</a:t>
            </a:r>
            <a:endParaRPr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687793"/>
            <a:ext cx="7882128" cy="28754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Classification 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 smtClean="0"/>
              <a:t>Model </a:t>
            </a:r>
            <a:r>
              <a:rPr b="1" dirty="0"/>
              <a:t>Predictions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Side-by-side model comparisons</a:t>
            </a:r>
          </a:p>
          <a:p>
            <a:r>
              <a:rPr dirty="0"/>
              <a:t>• External image testing</a:t>
            </a:r>
          </a:p>
          <a:p>
            <a:endParaRPr sz="1300" dirty="0"/>
          </a:p>
          <a:p>
            <a:r>
              <a:rPr b="1" dirty="0" smtClean="0"/>
              <a:t>Success </a:t>
            </a:r>
            <a:r>
              <a:rPr b="1" dirty="0"/>
              <a:t>Metrics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High precision across all card classes</a:t>
            </a:r>
          </a:p>
          <a:p>
            <a:r>
              <a:rPr dirty="0"/>
              <a:t>• Consistent performance on test set</a:t>
            </a:r>
          </a:p>
          <a:p>
            <a:r>
              <a:rPr dirty="0"/>
              <a:t>• Good generalization to unseen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External Image Testing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914"/>
          <a:stretch/>
        </p:blipFill>
        <p:spPr>
          <a:xfrm>
            <a:off x="163988" y="2620653"/>
            <a:ext cx="8816024" cy="362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Project Achievements 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Successful dual CNN architecture</a:t>
            </a:r>
          </a:p>
          <a:p>
            <a:r>
              <a:rPr dirty="0"/>
              <a:t>• Comprehensive preprocessing pipeline</a:t>
            </a:r>
          </a:p>
          <a:p>
            <a:r>
              <a:rPr dirty="0"/>
              <a:t>• Effective transfer learning</a:t>
            </a:r>
          </a:p>
          <a:p>
            <a:r>
              <a:rPr dirty="0"/>
              <a:t>• High-accuracy card classification</a:t>
            </a:r>
          </a:p>
          <a:p>
            <a:endParaRPr sz="1300" dirty="0"/>
          </a:p>
          <a:p>
            <a:r>
              <a:rPr b="1" dirty="0" smtClean="0"/>
              <a:t>Future </a:t>
            </a:r>
            <a:r>
              <a:rPr b="1" dirty="0"/>
              <a:t>Directions</a:t>
            </a:r>
            <a:r>
              <a:rPr b="1" dirty="0" smtClean="0"/>
              <a:t>:</a:t>
            </a:r>
            <a:endParaRPr b="1" dirty="0"/>
          </a:p>
          <a:p>
            <a:r>
              <a:rPr dirty="0"/>
              <a:t>• Real-time video processing</a:t>
            </a:r>
          </a:p>
          <a:p>
            <a:r>
              <a:rPr dirty="0"/>
              <a:t>• Mobile application development</a:t>
            </a:r>
          </a:p>
          <a:p>
            <a:r>
              <a:rPr dirty="0"/>
              <a:t>• Multi-card hand recognition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9613" y="2038964"/>
            <a:ext cx="6284774" cy="1554269"/>
          </a:xfrm>
        </p:spPr>
        <p:txBody>
          <a:bodyPr/>
          <a:lstStyle/>
          <a:p>
            <a:pPr algn="ctr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r>
              <a:rPr lang="en-US" sz="36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3160" y="3885482"/>
            <a:ext cx="5917679" cy="861420"/>
          </a:xfrm>
        </p:spPr>
        <p:txBody>
          <a:bodyPr>
            <a:no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appreciate your attention and time.</a:t>
            </a:r>
            <a:endParaRPr sz="20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025396" y="3429000"/>
            <a:ext cx="5093208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122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219</TotalTime>
  <Words>364</Words>
  <Application>Microsoft Office PowerPoint</Application>
  <PresentationFormat>On-screen Show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Card Classification Using Deep Learning</vt:lpstr>
      <vt:lpstr>🎓 Team Introduction</vt:lpstr>
      <vt:lpstr>Introduction</vt:lpstr>
      <vt:lpstr>Project Workflow</vt:lpstr>
      <vt:lpstr>Dataset Description</vt:lpstr>
      <vt:lpstr>CNN Architecture Overview</vt:lpstr>
      <vt:lpstr>Data Preprocessing Pipeline</vt:lpstr>
      <vt:lpstr>Hyperparameter Optimization</vt:lpstr>
      <vt:lpstr>Data Segmentation Strategy</vt:lpstr>
      <vt:lpstr>Model Training &amp; Evaluation</vt:lpstr>
      <vt:lpstr>Results Analysis</vt:lpstr>
      <vt:lpstr>Classification Results &amp; Analysis</vt:lpstr>
      <vt:lpstr>External Image Testing</vt:lpstr>
      <vt:lpstr>Conclusion &amp; Future Work</vt:lpstr>
      <vt:lpstr>Thank You!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Playing Card Classification using Deep Learning</dc:title>
  <dc:subject/>
  <dc:creator>Rohed Ove</dc:creator>
  <cp:keywords/>
  <dc:description>generated using python-pptx</dc:description>
  <cp:lastModifiedBy>Microsoft account</cp:lastModifiedBy>
  <cp:revision>23</cp:revision>
  <dcterms:created xsi:type="dcterms:W3CDTF">2013-01-27T09:14:16Z</dcterms:created>
  <dcterms:modified xsi:type="dcterms:W3CDTF">2025-11-06T16:51:15Z</dcterms:modified>
  <cp:category/>
</cp:coreProperties>
</file>