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0"/>
  </p:notesMasterIdLst>
  <p:sldIdLst>
    <p:sldId id="273" r:id="rId2"/>
    <p:sldId id="274" r:id="rId3"/>
    <p:sldId id="275" r:id="rId4"/>
    <p:sldId id="258" r:id="rId5"/>
    <p:sldId id="276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7" r:id="rId18"/>
    <p:sldId id="278" r:id="rId19"/>
  </p:sldIdLst>
  <p:sldSz cx="12192000" cy="6858000"/>
  <p:notesSz cx="6858000" cy="9144000"/>
  <p:embeddedFontLst>
    <p:embeddedFont>
      <p:font typeface="Calibri" panose="020F0502020204030204" pitchFamily="34" charset="0"/>
      <p:regular r:id="rId21"/>
      <p:bold r:id="rId22"/>
      <p:italic r:id="rId23"/>
      <p:boldItalic r:id="rId24"/>
    </p:embeddedFont>
    <p:embeddedFont>
      <p:font typeface="Outfit" panose="020B0604020202020204" charset="0"/>
      <p:regular r:id="rId25"/>
      <p:bold r:id="rId26"/>
    </p:embeddedFont>
    <p:embeddedFont>
      <p:font typeface="Space Grotesk" panose="020B0604020202020204" charset="0"/>
      <p:regular r:id="rId27"/>
      <p:bold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8C92203-B958-4A04-8D94-A8DE62B5F20D}">
  <a:tblStyle styleId="{68C92203-B958-4A04-8D94-A8DE62B5F20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90" autoAdjust="0"/>
    <p:restoredTop sz="94660"/>
  </p:normalViewPr>
  <p:slideViewPr>
    <p:cSldViewPr snapToGrid="0">
      <p:cViewPr varScale="1">
        <p:scale>
          <a:sx n="83" d="100"/>
          <a:sy n="83" d="100"/>
        </p:scale>
        <p:origin x="662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8782175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737939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659917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990166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949717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072113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68634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801490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739632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018824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744046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958749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3489689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106797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5601930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541674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200560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4689838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173458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3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3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00684" y="4399359"/>
            <a:ext cx="7620000" cy="125149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900684" y="1130796"/>
            <a:ext cx="7620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chemeClr val="bg2">
                    <a:lumMod val="20000"/>
                    <a:lumOff val="80000"/>
                  </a:schemeClr>
                </a:solidFill>
                <a:latin typeface="Outfit"/>
                <a:ea typeface="Outfit"/>
                <a:cs typeface="Outfit"/>
                <a:sym typeface="Outfit"/>
              </a:rPr>
              <a:t>PROJECT REPORT PRESENTATION</a:t>
            </a:r>
            <a:endParaRPr sz="2000" dirty="0">
              <a:solidFill>
                <a:schemeClr val="bg2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900684" y="2052082"/>
            <a:ext cx="8001000" cy="1625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F1F5F9"/>
                </a:solidFill>
                <a:latin typeface="Space Grotesk"/>
                <a:ea typeface="Space Grotesk"/>
                <a:cs typeface="Space Grotesk"/>
                <a:sym typeface="Space Grotesk"/>
              </a:rPr>
              <a:t>Hate Speech Detection Using Machine Learning</a:t>
            </a:r>
            <a:endParaRPr sz="1200" dirty="0"/>
          </a:p>
        </p:txBody>
      </p:sp>
      <p:sp>
        <p:nvSpPr>
          <p:cNvPr id="89" name="Google Shape;89;p13"/>
          <p:cNvSpPr txBox="1"/>
          <p:nvPr/>
        </p:nvSpPr>
        <p:spPr>
          <a:xfrm>
            <a:off x="900684" y="4775127"/>
            <a:ext cx="7620000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9944"/>
              </a:lnSpc>
            </a:pPr>
            <a:r>
              <a:rPr lang="en-US" sz="2000" b="0" i="0" u="none" strike="noStrike" cap="none" dirty="0">
                <a:solidFill>
                  <a:schemeClr val="bg2">
                    <a:lumMod val="20000"/>
                    <a:lumOff val="80000"/>
                  </a:schemeClr>
                </a:solidFill>
                <a:latin typeface="Outfit"/>
                <a:ea typeface="Outfit"/>
                <a:cs typeface="Outfit"/>
                <a:sym typeface="Outfit"/>
              </a:rPr>
              <a:t>Prepared by: </a:t>
            </a:r>
            <a:r>
              <a:rPr lang="en-US" sz="2000" dirty="0" smtClean="0">
                <a:solidFill>
                  <a:schemeClr val="bg2">
                    <a:lumMod val="20000"/>
                    <a:lumOff val="80000"/>
                  </a:schemeClr>
                </a:solidFill>
                <a:latin typeface="Outfit"/>
                <a:ea typeface="Outfit"/>
                <a:cs typeface="Outfit"/>
                <a:sym typeface="Outfit"/>
              </a:rPr>
              <a:t>Rohed </a:t>
            </a:r>
            <a:r>
              <a:rPr lang="en-US" sz="2000" dirty="0">
                <a:solidFill>
                  <a:schemeClr val="bg2">
                    <a:lumMod val="20000"/>
                    <a:lumOff val="80000"/>
                  </a:schemeClr>
                </a:solidFill>
                <a:latin typeface="Outfit"/>
                <a:ea typeface="Outfit"/>
                <a:cs typeface="Outfit"/>
                <a:sym typeface="Outfit"/>
              </a:rPr>
              <a:t>Deb Ove </a:t>
            </a:r>
            <a:r>
              <a:rPr lang="en-US" sz="2000" dirty="0" smtClean="0">
                <a:solidFill>
                  <a:schemeClr val="bg2">
                    <a:lumMod val="20000"/>
                    <a:lumOff val="80000"/>
                  </a:schemeClr>
                </a:solidFill>
                <a:latin typeface="Outfit"/>
                <a:ea typeface="Outfit"/>
                <a:cs typeface="Outfit"/>
                <a:sym typeface="Outfit"/>
              </a:rPr>
              <a:t>&amp;</a:t>
            </a:r>
            <a:r>
              <a:rPr lang="en-US" sz="2000" dirty="0">
                <a:solidFill>
                  <a:schemeClr val="bg2">
                    <a:lumMod val="20000"/>
                    <a:lumOff val="80000"/>
                  </a:schemeClr>
                </a:solidFill>
                <a:latin typeface="Outfit"/>
                <a:ea typeface="Outfit"/>
                <a:cs typeface="Outfit"/>
                <a:sym typeface="Outfit"/>
              </a:rPr>
              <a:t> Tamjidul Hasan </a:t>
            </a:r>
            <a:endParaRPr sz="1600" dirty="0">
              <a:solidFill>
                <a:schemeClr val="bg2">
                  <a:lumMod val="20000"/>
                  <a:lumOff val="8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2576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762000" y="762000"/>
            <a:ext cx="4800600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818CF8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Problem</a:t>
            </a:r>
            <a:endParaRPr/>
          </a:p>
        </p:txBody>
      </p:sp>
      <p:pic>
        <p:nvPicPr>
          <p:cNvPr id="96" name="Google Shape;9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762000" y="1766887"/>
            <a:ext cx="4800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Information Overload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762000" y="2223706"/>
            <a:ext cx="4572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The exponential growth of Web 2.0 has made manual moderation of hate speech computationally infeasible due to the sheer volume of data.</a:t>
            </a:r>
            <a:endParaRPr dirty="0"/>
          </a:p>
        </p:txBody>
      </p:sp>
      <p:sp>
        <p:nvSpPr>
          <p:cNvPr id="99" name="Google Shape;99;p14"/>
          <p:cNvSpPr txBox="1"/>
          <p:nvPr/>
        </p:nvSpPr>
        <p:spPr>
          <a:xfrm>
            <a:off x="762000" y="3643312"/>
            <a:ext cx="4800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Core Challenges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885825" y="428148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•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952500" y="4190047"/>
            <a:ext cx="46101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Linguistic Ambiguity: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Sarcasm, slang, and context make detection difficult.</a:t>
            </a:r>
            <a:endParaRPr dirty="0"/>
          </a:p>
        </p:txBody>
      </p:sp>
      <p:sp>
        <p:nvSpPr>
          <p:cNvPr id="102" name="Google Shape;102;p14"/>
          <p:cNvSpPr txBox="1"/>
          <p:nvPr/>
        </p:nvSpPr>
        <p:spPr>
          <a:xfrm>
            <a:off x="885825" y="498633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•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952500" y="4885753"/>
            <a:ext cx="4515612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Data Imbalance: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Hate speech is often the minority class </a:t>
            </a:r>
            <a:r>
              <a:rPr lang="en-US" sz="1500" b="0" i="0" u="none" strike="noStrike" cap="none" dirty="0" smtClean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(16%), 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biasing models towards "Not Hate".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97720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909762"/>
            <a:ext cx="3492400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1909762"/>
            <a:ext cx="3492549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950" y="1909762"/>
            <a:ext cx="3492400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6775" y="2205037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866775" y="3062287"/>
            <a:ext cx="3046943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C084FC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Source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793622" y="3595687"/>
            <a:ext cx="3046943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A large-scale dataset of approximately </a:t>
            </a:r>
            <a:r>
              <a:rPr lang="en-US" sz="1500" b="1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842,000 comments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collected from Wikipedia Talk pages, offering a diverse range of conversational text.</a:t>
            </a:r>
            <a:endParaRPr dirty="0"/>
          </a:p>
        </p:txBody>
      </p:sp>
      <p:pic>
        <p:nvPicPr>
          <p:cNvPr id="115" name="Google Shape;115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644925" y="2205037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4644925" y="3062287"/>
            <a:ext cx="304709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C084FC"/>
                </a:solidFill>
                <a:latin typeface="Space Grotesk"/>
                <a:ea typeface="Space Grotesk"/>
                <a:cs typeface="Space Grotesk"/>
                <a:sym typeface="Space Grotesk"/>
              </a:rPr>
              <a:t>Imbalance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4644925" y="3595687"/>
            <a:ext cx="2901999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The data reflects real-world skew: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84.1% Not Hate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vs.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15.9% Hate Speech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. This 5.3:1 ratio requires careful handling during training.</a:t>
            </a:r>
            <a:endParaRPr/>
          </a:p>
        </p:txBody>
      </p:sp>
      <p:pic>
        <p:nvPicPr>
          <p:cNvPr id="118" name="Google Shape;118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423225" y="2205037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8423225" y="3062287"/>
            <a:ext cx="3046943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C084FC"/>
                </a:solidFill>
                <a:latin typeface="Space Grotesk"/>
                <a:ea typeface="Space Grotesk"/>
                <a:cs typeface="Space Grotesk"/>
                <a:sym typeface="Space Grotesk"/>
              </a:rPr>
              <a:t>Preprocessing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8423225" y="3595687"/>
            <a:ext cx="290185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Rigorous cleaning (URL removal, lowercasing) followed by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TF-IDF Vectorization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with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Bigrams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to capture contextual nuances.</a:t>
            </a:r>
            <a:endParaRPr/>
          </a:p>
        </p:txBody>
      </p:sp>
      <p:pic>
        <p:nvPicPr>
          <p:cNvPr id="121" name="Google Shape;121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33462" y="2347912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40175" y="2347912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566100" y="234791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/>
        </p:nvSpPr>
        <p:spPr>
          <a:xfrm>
            <a:off x="571500" y="720089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818CF8"/>
                </a:solidFill>
                <a:latin typeface="Space Grotesk"/>
                <a:ea typeface="Space Grotesk"/>
                <a:cs typeface="Space Grotesk"/>
                <a:sym typeface="Space Grotesk"/>
              </a:rPr>
              <a:t>Dataset &amp; Methodology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0532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 txBox="1"/>
          <p:nvPr/>
        </p:nvSpPr>
        <p:spPr>
          <a:xfrm>
            <a:off x="571500" y="571500"/>
            <a:ext cx="52006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 smtClean="0">
                <a:solidFill>
                  <a:srgbClr val="818CF8"/>
                </a:solidFill>
                <a:latin typeface="Space Grotesk"/>
                <a:ea typeface="Space Grotesk"/>
                <a:cs typeface="Space Grotesk"/>
                <a:sym typeface="Space Grotesk"/>
              </a:rPr>
              <a:t>Word </a:t>
            </a:r>
            <a:r>
              <a:rPr lang="en-US" sz="3600" b="1" i="0" u="none" strike="noStrike" cap="none" dirty="0">
                <a:solidFill>
                  <a:srgbClr val="818CF8"/>
                </a:solidFill>
                <a:latin typeface="Space Grotesk"/>
                <a:ea typeface="Space Grotesk"/>
                <a:cs typeface="Space Grotesk"/>
                <a:sym typeface="Space Grotesk"/>
              </a:rPr>
              <a:t>Visualization</a:t>
            </a:r>
            <a:endParaRPr dirty="0"/>
          </a:p>
        </p:txBody>
      </p:sp>
      <p:sp>
        <p:nvSpPr>
          <p:cNvPr id="105" name="Google Shape;105;p15"/>
          <p:cNvSpPr txBox="1"/>
          <p:nvPr/>
        </p:nvSpPr>
        <p:spPr>
          <a:xfrm>
            <a:off x="571500" y="1768792"/>
            <a:ext cx="52006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C084FC"/>
                </a:solidFill>
                <a:latin typeface="Space Grotesk"/>
                <a:ea typeface="Space Grotesk"/>
                <a:cs typeface="Space Grotesk"/>
                <a:sym typeface="Space Grotesk"/>
              </a:rPr>
              <a:t>Distinct Vocabularies</a:t>
            </a:r>
            <a:endParaRPr dirty="0"/>
          </a:p>
        </p:txBody>
      </p:sp>
      <p:sp>
        <p:nvSpPr>
          <p:cNvPr id="106" name="Google Shape;106;p15"/>
          <p:cNvSpPr txBox="1"/>
          <p:nvPr/>
        </p:nvSpPr>
        <p:spPr>
          <a:xfrm>
            <a:off x="571500" y="2445067"/>
            <a:ext cx="5042916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Not Hate: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Dominated by </a:t>
            </a:r>
            <a:r>
              <a:rPr lang="en-US" sz="1500" b="0" i="0" u="none" strike="noStrike" cap="none" dirty="0" smtClean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Wikipedia-specific administrative 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terms like "article," "page," "edit," and "consensus."</a:t>
            </a:r>
            <a:endParaRPr dirty="0"/>
          </a:p>
        </p:txBody>
      </p:sp>
      <p:sp>
        <p:nvSpPr>
          <p:cNvPr id="107" name="Google Shape;107;p15"/>
          <p:cNvSpPr txBox="1"/>
          <p:nvPr/>
        </p:nvSpPr>
        <p:spPr>
          <a:xfrm>
            <a:off x="571500" y="3652599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Hate Speech: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Characterized by explicit insults, racial slurs, and aggressive terms.</a:t>
            </a:r>
            <a:endParaRPr dirty="0"/>
          </a:p>
        </p:txBody>
      </p:sp>
      <p:sp>
        <p:nvSpPr>
          <p:cNvPr id="108" name="Google Shape;108;p15"/>
          <p:cNvSpPr txBox="1"/>
          <p:nvPr/>
        </p:nvSpPr>
        <p:spPr>
          <a:xfrm>
            <a:off x="571500" y="4731067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This clear lexical distinction suggests TF-IDF will be an effective feature extraction method.</a:t>
            </a:r>
            <a:endParaRPr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61760" y="822960"/>
            <a:ext cx="5212080" cy="5212080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890712"/>
            <a:ext cx="3492400" cy="403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650" y="1890712"/>
            <a:ext cx="3492549" cy="403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127950" y="1890712"/>
            <a:ext cx="3492400" cy="403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66775" y="2185987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>
            <a:off x="866775" y="3043237"/>
            <a:ext cx="3046943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C084FC"/>
                </a:solidFill>
                <a:latin typeface="Space Grotesk"/>
                <a:ea typeface="Space Grotesk"/>
                <a:cs typeface="Space Grotesk"/>
                <a:sym typeface="Space Grotesk"/>
              </a:rPr>
              <a:t>Multinomial Naive Bayes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866775" y="3919537"/>
            <a:ext cx="290185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Used as a baseline. It is extremely fast </a:t>
            </a:r>
            <a:r>
              <a:rPr lang="en-US" sz="1500" b="0" i="0" u="none" strike="noStrike" cap="none" dirty="0" smtClean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but 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assumes feature independence, leading to lower recall for complex hate speech.</a:t>
            </a:r>
            <a:endParaRPr dirty="0"/>
          </a:p>
        </p:txBody>
      </p:sp>
      <p:sp>
        <p:nvSpPr>
          <p:cNvPr id="137" name="Google Shape;137;p16"/>
          <p:cNvSpPr txBox="1"/>
          <p:nvPr/>
        </p:nvSpPr>
        <p:spPr>
          <a:xfrm>
            <a:off x="4644925" y="3043237"/>
            <a:ext cx="3047099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C084FC"/>
                </a:solidFill>
                <a:latin typeface="Space Grotesk"/>
                <a:ea typeface="Space Grotesk"/>
                <a:cs typeface="Space Grotesk"/>
                <a:sym typeface="Space Grotesk"/>
              </a:rPr>
              <a:t>Logistic Regression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4644925" y="3576637"/>
            <a:ext cx="2901999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A probabilistic linear classifier. It offers a balance between speed and accuracy but struggled slightly with the high class imbalance.</a:t>
            </a:r>
            <a:endParaRPr/>
          </a:p>
        </p:txBody>
      </p:sp>
      <p:pic>
        <p:nvPicPr>
          <p:cNvPr id="139" name="Google Shape;139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423225" y="2185987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6"/>
          <p:cNvSpPr txBox="1"/>
          <p:nvPr/>
        </p:nvSpPr>
        <p:spPr>
          <a:xfrm>
            <a:off x="8423225" y="3043237"/>
            <a:ext cx="3046943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C084FC"/>
                </a:solidFill>
                <a:latin typeface="Space Grotesk"/>
                <a:ea typeface="Space Grotesk"/>
                <a:cs typeface="Space Grotesk"/>
                <a:sym typeface="Space Grotesk"/>
              </a:rPr>
              <a:t>Linear SVM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8423225" y="3576637"/>
            <a:ext cx="290185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The Winner.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Creates an optimal hyperplane with maximum margin. Best suited for high-dimensional sparse data like text.</a:t>
            </a:r>
            <a:endParaRPr/>
          </a:p>
        </p:txBody>
      </p:sp>
      <p:pic>
        <p:nvPicPr>
          <p:cNvPr id="142" name="Google Shape;142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33462" y="2328862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566100" y="232886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6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818CF8"/>
                </a:solidFill>
                <a:latin typeface="Space Grotesk"/>
                <a:ea typeface="Space Grotesk"/>
                <a:cs typeface="Space Grotesk"/>
                <a:sym typeface="Space Grotesk"/>
              </a:rPr>
              <a:t>Machine Learning Models</a:t>
            </a:r>
            <a:endParaRPr/>
          </a:p>
        </p:txBody>
      </p:sp>
      <p:pic>
        <p:nvPicPr>
          <p:cNvPr id="20" name="Google Shape;134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635400" y="2185987"/>
            <a:ext cx="666750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Oval Callout 1"/>
          <p:cNvSpPr/>
          <p:nvPr/>
        </p:nvSpPr>
        <p:spPr>
          <a:xfrm>
            <a:off x="4776751" y="2328862"/>
            <a:ext cx="353034" cy="337316"/>
          </a:xfrm>
          <a:prstGeom prst="wedgeEllipseCallout">
            <a:avLst/>
          </a:prstGeom>
          <a:solidFill>
            <a:schemeClr val="bg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515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4" name="Google Shape;114;p16"/>
          <p:cNvGraphicFramePr/>
          <p:nvPr>
            <p:extLst>
              <p:ext uri="{D42A27DB-BD31-4B8C-83A1-F6EECF244321}">
                <p14:modId xmlns:p14="http://schemas.microsoft.com/office/powerpoint/2010/main" val="1800414777"/>
              </p:ext>
            </p:extLst>
          </p:nvPr>
        </p:nvGraphicFramePr>
        <p:xfrm>
          <a:off x="571500" y="2281237"/>
          <a:ext cx="11048975" cy="2381225"/>
        </p:xfrm>
        <a:graphic>
          <a:graphicData uri="http://schemas.openxmlformats.org/drawingml/2006/table">
            <a:tbl>
              <a:tblPr firstRow="1" bandRow="1">
                <a:noFill/>
                <a:tableStyleId>{68C92203-B958-4A04-8D94-A8DE62B5F20D}</a:tableStyleId>
              </a:tblPr>
              <a:tblGrid>
                <a:gridCol w="2762250"/>
                <a:gridCol w="2265300"/>
                <a:gridCol w="1689050"/>
                <a:gridCol w="2225575"/>
                <a:gridCol w="2106800"/>
              </a:tblGrid>
              <a:tr h="595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>
                          <a:solidFill>
                            <a:srgbClr val="F1F5F9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Class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1F5F9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Precision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1F5F9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Recall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1F5F9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F1-Score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1F5F9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Support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</a:tr>
              <a:tr h="595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0 (Not Hate)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0.92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0.96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0.94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141,728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95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1 (Hate)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 dirty="0">
                          <a:solidFill>
                            <a:schemeClr val="tx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0.71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0.57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0.63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tx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26,739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95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chemeClr val="tx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Accuracy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 dirty="0" smtClean="0">
                          <a:solidFill>
                            <a:schemeClr val="tx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0.89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15" name="Google Shape;115;p16"/>
          <p:cNvSpPr txBox="1"/>
          <p:nvPr/>
        </p:nvSpPr>
        <p:spPr>
          <a:xfrm>
            <a:off x="571500" y="4948237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Insight: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High precision but very poor Recall (0.57) for the Hate class. It missed 43% of toxic comments.</a:t>
            </a:r>
            <a:endParaRPr/>
          </a:p>
        </p:txBody>
      </p:sp>
      <p:sp>
        <p:nvSpPr>
          <p:cNvPr id="116" name="Google Shape;116;p16"/>
          <p:cNvSpPr/>
          <p:nvPr/>
        </p:nvSpPr>
        <p:spPr>
          <a:xfrm>
            <a:off x="571500" y="3457575"/>
            <a:ext cx="27622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6"/>
          <p:cNvSpPr/>
          <p:nvPr/>
        </p:nvSpPr>
        <p:spPr>
          <a:xfrm>
            <a:off x="3333750" y="3457575"/>
            <a:ext cx="226531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6"/>
          <p:cNvSpPr/>
          <p:nvPr/>
        </p:nvSpPr>
        <p:spPr>
          <a:xfrm>
            <a:off x="5599062" y="3457575"/>
            <a:ext cx="16890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6"/>
          <p:cNvSpPr/>
          <p:nvPr/>
        </p:nvSpPr>
        <p:spPr>
          <a:xfrm>
            <a:off x="7288113" y="3457575"/>
            <a:ext cx="222557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6"/>
          <p:cNvSpPr/>
          <p:nvPr/>
        </p:nvSpPr>
        <p:spPr>
          <a:xfrm>
            <a:off x="9513689" y="3457575"/>
            <a:ext cx="210681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6"/>
          <p:cNvSpPr/>
          <p:nvPr/>
        </p:nvSpPr>
        <p:spPr>
          <a:xfrm>
            <a:off x="571500" y="4057650"/>
            <a:ext cx="27622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6"/>
          <p:cNvSpPr/>
          <p:nvPr/>
        </p:nvSpPr>
        <p:spPr>
          <a:xfrm>
            <a:off x="3333750" y="4057650"/>
            <a:ext cx="226531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5599062" y="4057650"/>
            <a:ext cx="16890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6"/>
          <p:cNvSpPr/>
          <p:nvPr/>
        </p:nvSpPr>
        <p:spPr>
          <a:xfrm>
            <a:off x="7288113" y="4057650"/>
            <a:ext cx="222557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6"/>
          <p:cNvSpPr/>
          <p:nvPr/>
        </p:nvSpPr>
        <p:spPr>
          <a:xfrm>
            <a:off x="9513689" y="4057650"/>
            <a:ext cx="210681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6"/>
          <p:cNvSpPr txBox="1"/>
          <p:nvPr/>
        </p:nvSpPr>
        <p:spPr>
          <a:xfrm>
            <a:off x="571500" y="818387"/>
            <a:ext cx="113385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818CF8"/>
                </a:solidFill>
                <a:latin typeface="Space Grotesk"/>
                <a:ea typeface="Space Grotesk"/>
                <a:cs typeface="Space Grotesk"/>
                <a:sym typeface="Space Grotesk"/>
              </a:rPr>
              <a:t>Model 1: Multinomial Naive Bayes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481137"/>
            <a:ext cx="533400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7"/>
          <p:cNvSpPr txBox="1"/>
          <p:nvPr/>
        </p:nvSpPr>
        <p:spPr>
          <a:xfrm>
            <a:off x="571500" y="2572321"/>
            <a:ext cx="56007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C084FC"/>
                </a:solidFill>
                <a:latin typeface="Space Grotesk"/>
                <a:ea typeface="Space Grotesk"/>
                <a:cs typeface="Space Grotesk"/>
                <a:sym typeface="Space Grotesk"/>
              </a:rPr>
              <a:t>Training Analysis</a:t>
            </a:r>
            <a:endParaRPr dirty="0"/>
          </a:p>
        </p:txBody>
      </p:sp>
      <p:sp>
        <p:nvSpPr>
          <p:cNvPr id="135" name="Google Shape;135;p17"/>
          <p:cNvSpPr txBox="1"/>
          <p:nvPr/>
        </p:nvSpPr>
        <p:spPr>
          <a:xfrm>
            <a:off x="695325" y="3460813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•</a:t>
            </a:r>
            <a:endParaRPr dirty="0"/>
          </a:p>
        </p:txBody>
      </p:sp>
      <p:sp>
        <p:nvSpPr>
          <p:cNvPr id="136" name="Google Shape;136;p17"/>
          <p:cNvSpPr txBox="1"/>
          <p:nvPr/>
        </p:nvSpPr>
        <p:spPr>
          <a:xfrm>
            <a:off x="762000" y="3067621"/>
            <a:ext cx="5143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Extremely fast convergence due to probabilistic nature.</a:t>
            </a:r>
            <a:endParaRPr dirty="0"/>
          </a:p>
        </p:txBody>
      </p:sp>
      <p:sp>
        <p:nvSpPr>
          <p:cNvPr id="137" name="Google Shape;137;p17"/>
          <p:cNvSpPr txBox="1"/>
          <p:nvPr/>
        </p:nvSpPr>
        <p:spPr>
          <a:xfrm>
            <a:off x="695325" y="3756469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•</a:t>
            </a:r>
            <a:endParaRPr dirty="0"/>
          </a:p>
        </p:txBody>
      </p:sp>
      <p:sp>
        <p:nvSpPr>
          <p:cNvPr id="138" name="Google Shape;138;p17"/>
          <p:cNvSpPr txBox="1"/>
          <p:nvPr/>
        </p:nvSpPr>
        <p:spPr>
          <a:xfrm>
            <a:off x="762000" y="3372421"/>
            <a:ext cx="5143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Shows a gap between training and validation accuracy.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710755" y="3172586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•</a:t>
            </a:r>
            <a:endParaRPr dirty="0"/>
          </a:p>
        </p:txBody>
      </p:sp>
      <p:sp>
        <p:nvSpPr>
          <p:cNvPr id="140" name="Google Shape;140;p17"/>
          <p:cNvSpPr txBox="1"/>
          <p:nvPr/>
        </p:nvSpPr>
        <p:spPr>
          <a:xfrm>
            <a:off x="762000" y="3677221"/>
            <a:ext cx="5143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Indicates potential bias/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underfitting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for the complex minority class.</a:t>
            </a:r>
            <a:endParaRPr dirty="0"/>
          </a:p>
        </p:txBody>
      </p:sp>
      <p:sp>
        <p:nvSpPr>
          <p:cNvPr id="141" name="Google Shape;141;p17"/>
          <p:cNvSpPr txBox="1"/>
          <p:nvPr/>
        </p:nvSpPr>
        <p:spPr>
          <a:xfrm>
            <a:off x="571500" y="1157858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 smtClean="0">
                <a:solidFill>
                  <a:srgbClr val="818CF8"/>
                </a:solidFill>
                <a:latin typeface="Space Grotesk"/>
                <a:ea typeface="Space Grotesk"/>
                <a:cs typeface="Space Grotesk"/>
                <a:sym typeface="Space Grotesk"/>
              </a:rPr>
              <a:t>Learning </a:t>
            </a:r>
            <a:r>
              <a:rPr lang="en-US" sz="3600" b="1" i="0" u="none" strike="noStrike" cap="none" dirty="0">
                <a:solidFill>
                  <a:srgbClr val="818CF8"/>
                </a:solidFill>
                <a:latin typeface="Space Grotesk"/>
                <a:ea typeface="Space Grotesk"/>
                <a:cs typeface="Space Grotesk"/>
                <a:sym typeface="Space Grotesk"/>
              </a:rPr>
              <a:t>Curve</a:t>
            </a:r>
            <a:endParaRPr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1098" y="1442088"/>
            <a:ext cx="5943600" cy="399070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7" name="Google Shape;147;p18"/>
          <p:cNvGraphicFramePr/>
          <p:nvPr>
            <p:extLst>
              <p:ext uri="{D42A27DB-BD31-4B8C-83A1-F6EECF244321}">
                <p14:modId xmlns:p14="http://schemas.microsoft.com/office/powerpoint/2010/main" val="239557186"/>
              </p:ext>
            </p:extLst>
          </p:nvPr>
        </p:nvGraphicFramePr>
        <p:xfrm>
          <a:off x="571500" y="2281237"/>
          <a:ext cx="11048975" cy="2381225"/>
        </p:xfrm>
        <a:graphic>
          <a:graphicData uri="http://schemas.openxmlformats.org/drawingml/2006/table">
            <a:tbl>
              <a:tblPr firstRow="1" bandRow="1">
                <a:noFill/>
                <a:tableStyleId>{68C92203-B958-4A04-8D94-A8DE62B5F20D}</a:tableStyleId>
              </a:tblPr>
              <a:tblGrid>
                <a:gridCol w="2762250"/>
                <a:gridCol w="2265300"/>
                <a:gridCol w="1689050"/>
                <a:gridCol w="2225575"/>
                <a:gridCol w="2106800"/>
              </a:tblGrid>
              <a:tr h="595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dirty="0">
                          <a:solidFill>
                            <a:srgbClr val="F1F5F9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Class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>
                          <a:solidFill>
                            <a:srgbClr val="F1F5F9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Precision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>
                          <a:solidFill>
                            <a:srgbClr val="F1F5F9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Recall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>
                          <a:solidFill>
                            <a:srgbClr val="F1F5F9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F1-Score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>
                          <a:solidFill>
                            <a:srgbClr val="F1F5F9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Support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</a:tr>
              <a:tr h="595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dirty="0">
                          <a:solidFill>
                            <a:schemeClr val="tx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0 (Not Hate)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>
                          <a:solidFill>
                            <a:schemeClr val="tx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0.92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>
                          <a:solidFill>
                            <a:schemeClr val="tx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0.97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>
                          <a:solidFill>
                            <a:schemeClr val="tx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0.95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>
                          <a:solidFill>
                            <a:schemeClr val="tx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141,728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95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dirty="0">
                          <a:solidFill>
                            <a:schemeClr val="tx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1 (Hate)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dirty="0">
                          <a:solidFill>
                            <a:schemeClr val="tx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0.81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>
                          <a:solidFill>
                            <a:schemeClr val="tx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0.57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>
                          <a:solidFill>
                            <a:schemeClr val="tx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0.67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>
                          <a:solidFill>
                            <a:schemeClr val="tx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26,739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95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>
                          <a:solidFill>
                            <a:schemeClr val="tx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Accuracy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dirty="0" smtClean="0">
                          <a:solidFill>
                            <a:schemeClr val="tx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0.90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48" name="Google Shape;148;p18"/>
          <p:cNvSpPr txBox="1"/>
          <p:nvPr/>
        </p:nvSpPr>
        <p:spPr>
          <a:xfrm>
            <a:off x="571500" y="4948237"/>
            <a:ext cx="11049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Insight: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Precision improved significantly to 0.81, but Recall remained low (0.57). It </a:t>
            </a:r>
            <a:r>
              <a:rPr lang="en-US" sz="1500" b="0" i="0" u="none" strike="noStrike" cap="none" dirty="0" smtClean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still 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misses too much toxicity.</a:t>
            </a:r>
            <a:endParaRPr dirty="0"/>
          </a:p>
        </p:txBody>
      </p:sp>
      <p:sp>
        <p:nvSpPr>
          <p:cNvPr id="149" name="Google Shape;149;p18"/>
          <p:cNvSpPr/>
          <p:nvPr/>
        </p:nvSpPr>
        <p:spPr>
          <a:xfrm>
            <a:off x="571500" y="3457575"/>
            <a:ext cx="27622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8"/>
          <p:cNvSpPr/>
          <p:nvPr/>
        </p:nvSpPr>
        <p:spPr>
          <a:xfrm>
            <a:off x="3333750" y="3457575"/>
            <a:ext cx="226531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8"/>
          <p:cNvSpPr/>
          <p:nvPr/>
        </p:nvSpPr>
        <p:spPr>
          <a:xfrm>
            <a:off x="5599062" y="3457575"/>
            <a:ext cx="16890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8"/>
          <p:cNvSpPr/>
          <p:nvPr/>
        </p:nvSpPr>
        <p:spPr>
          <a:xfrm>
            <a:off x="7288113" y="3457575"/>
            <a:ext cx="222557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8"/>
          <p:cNvSpPr/>
          <p:nvPr/>
        </p:nvSpPr>
        <p:spPr>
          <a:xfrm>
            <a:off x="9513689" y="3457575"/>
            <a:ext cx="210681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8"/>
          <p:cNvSpPr/>
          <p:nvPr/>
        </p:nvSpPr>
        <p:spPr>
          <a:xfrm>
            <a:off x="571500" y="4057650"/>
            <a:ext cx="27622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8"/>
          <p:cNvSpPr/>
          <p:nvPr/>
        </p:nvSpPr>
        <p:spPr>
          <a:xfrm>
            <a:off x="3333750" y="4057650"/>
            <a:ext cx="226531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8"/>
          <p:cNvSpPr/>
          <p:nvPr/>
        </p:nvSpPr>
        <p:spPr>
          <a:xfrm>
            <a:off x="5599062" y="4057650"/>
            <a:ext cx="16890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8"/>
          <p:cNvSpPr/>
          <p:nvPr/>
        </p:nvSpPr>
        <p:spPr>
          <a:xfrm>
            <a:off x="7288113" y="4057650"/>
            <a:ext cx="222557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8"/>
          <p:cNvSpPr/>
          <p:nvPr/>
        </p:nvSpPr>
        <p:spPr>
          <a:xfrm>
            <a:off x="9513689" y="4057650"/>
            <a:ext cx="210681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8"/>
          <p:cNvSpPr txBox="1"/>
          <p:nvPr/>
        </p:nvSpPr>
        <p:spPr>
          <a:xfrm>
            <a:off x="571500" y="836676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818CF8"/>
                </a:solidFill>
                <a:latin typeface="Space Grotesk"/>
                <a:ea typeface="Space Grotesk"/>
                <a:cs typeface="Space Grotesk"/>
                <a:sym typeface="Space Grotesk"/>
              </a:rPr>
              <a:t>Model 2: Logistic Regression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481137"/>
            <a:ext cx="533400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571500" y="2544889"/>
            <a:ext cx="56007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C084FC"/>
                </a:solidFill>
                <a:latin typeface="Space Grotesk"/>
                <a:ea typeface="Space Grotesk"/>
                <a:cs typeface="Space Grotesk"/>
                <a:sym typeface="Space Grotesk"/>
              </a:rPr>
              <a:t>Training Analysis</a:t>
            </a:r>
            <a:endParaRPr dirty="0"/>
          </a:p>
        </p:txBody>
      </p:sp>
      <p:sp>
        <p:nvSpPr>
          <p:cNvPr id="168" name="Google Shape;168;p19"/>
          <p:cNvSpPr txBox="1"/>
          <p:nvPr/>
        </p:nvSpPr>
        <p:spPr>
          <a:xfrm>
            <a:off x="695325" y="3451669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•</a:t>
            </a:r>
            <a:endParaRPr dirty="0"/>
          </a:p>
        </p:txBody>
      </p:sp>
      <p:sp>
        <p:nvSpPr>
          <p:cNvPr id="169" name="Google Shape;169;p19"/>
          <p:cNvSpPr txBox="1"/>
          <p:nvPr/>
        </p:nvSpPr>
        <p:spPr>
          <a:xfrm>
            <a:off x="762000" y="3040189"/>
            <a:ext cx="5143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Smoother convergence compared to Naive Bayes.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695325" y="3756469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•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762000" y="3344989"/>
            <a:ext cx="5143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Required more iterations (2000) to reach optimal weights.</a:t>
            </a:r>
            <a:endParaRPr/>
          </a:p>
        </p:txBody>
      </p:sp>
      <p:sp>
        <p:nvSpPr>
          <p:cNvPr id="172" name="Google Shape;172;p19"/>
          <p:cNvSpPr txBox="1"/>
          <p:nvPr/>
        </p:nvSpPr>
        <p:spPr>
          <a:xfrm>
            <a:off x="701611" y="3156013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•</a:t>
            </a:r>
            <a:endParaRPr dirty="0"/>
          </a:p>
        </p:txBody>
      </p:sp>
      <p:sp>
        <p:nvSpPr>
          <p:cNvPr id="173" name="Google Shape;173;p19"/>
          <p:cNvSpPr txBox="1"/>
          <p:nvPr/>
        </p:nvSpPr>
        <p:spPr>
          <a:xfrm>
            <a:off x="762000" y="3649789"/>
            <a:ext cx="5143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Shows improved generalization but limited by the linear decision boundary on imbalanced data.</a:t>
            </a:r>
            <a:endParaRPr dirty="0"/>
          </a:p>
        </p:txBody>
      </p:sp>
      <p:sp>
        <p:nvSpPr>
          <p:cNvPr id="174" name="Google Shape;174;p19"/>
          <p:cNvSpPr txBox="1"/>
          <p:nvPr/>
        </p:nvSpPr>
        <p:spPr>
          <a:xfrm>
            <a:off x="571500" y="1179197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 smtClean="0">
                <a:solidFill>
                  <a:srgbClr val="818CF8"/>
                </a:solidFill>
                <a:latin typeface="Space Grotesk"/>
                <a:ea typeface="Space Grotesk"/>
                <a:cs typeface="Space Grotesk"/>
                <a:sym typeface="Space Grotesk"/>
              </a:rPr>
              <a:t>Learning </a:t>
            </a:r>
            <a:r>
              <a:rPr lang="en-US" sz="3600" b="1" i="0" u="none" strike="noStrike" cap="none" dirty="0">
                <a:solidFill>
                  <a:srgbClr val="818CF8"/>
                </a:solidFill>
                <a:latin typeface="Space Grotesk"/>
                <a:ea typeface="Space Grotesk"/>
                <a:cs typeface="Space Grotesk"/>
                <a:sym typeface="Space Grotesk"/>
              </a:rPr>
              <a:t>Curve</a:t>
            </a:r>
            <a:endParaRPr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4710" y="1456196"/>
            <a:ext cx="5943600" cy="394560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80" name="Google Shape;180;p20"/>
          <p:cNvGraphicFramePr/>
          <p:nvPr>
            <p:extLst>
              <p:ext uri="{D42A27DB-BD31-4B8C-83A1-F6EECF244321}">
                <p14:modId xmlns:p14="http://schemas.microsoft.com/office/powerpoint/2010/main" val="385096276"/>
              </p:ext>
            </p:extLst>
          </p:nvPr>
        </p:nvGraphicFramePr>
        <p:xfrm>
          <a:off x="571500" y="2281237"/>
          <a:ext cx="11048975" cy="2381225"/>
        </p:xfrm>
        <a:graphic>
          <a:graphicData uri="http://schemas.openxmlformats.org/drawingml/2006/table">
            <a:tbl>
              <a:tblPr firstRow="1" bandRow="1">
                <a:noFill/>
                <a:tableStyleId>{68C92203-B958-4A04-8D94-A8DE62B5F20D}</a:tableStyleId>
              </a:tblPr>
              <a:tblGrid>
                <a:gridCol w="2762250"/>
                <a:gridCol w="2265300"/>
                <a:gridCol w="1689050"/>
                <a:gridCol w="2225575"/>
                <a:gridCol w="2106800"/>
              </a:tblGrid>
              <a:tr h="595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dirty="0">
                          <a:solidFill>
                            <a:srgbClr val="F1F5F9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Class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>
                          <a:solidFill>
                            <a:srgbClr val="F1F5F9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Precision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>
                          <a:solidFill>
                            <a:srgbClr val="F1F5F9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Recall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>
                          <a:solidFill>
                            <a:srgbClr val="F1F5F9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F1-Score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>
                          <a:solidFill>
                            <a:srgbClr val="F1F5F9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Support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</a:tr>
              <a:tr h="595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dirty="0">
                          <a:solidFill>
                            <a:schemeClr val="tx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0 (Not Hate)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>
                          <a:solidFill>
                            <a:schemeClr val="tx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0.95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>
                          <a:solidFill>
                            <a:schemeClr val="tx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0.97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>
                          <a:solidFill>
                            <a:schemeClr val="tx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0.96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>
                          <a:solidFill>
                            <a:schemeClr val="tx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141,728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953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dirty="0">
                          <a:solidFill>
                            <a:schemeClr val="tx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1 (Hate)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>
                          <a:solidFill>
                            <a:schemeClr val="tx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0.81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>
                          <a:solidFill>
                            <a:schemeClr val="tx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0.71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>
                          <a:solidFill>
                            <a:schemeClr val="tx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0.75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>
                          <a:solidFill>
                            <a:schemeClr val="tx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26,739</a:t>
                      </a:r>
                      <a:endParaRPr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953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dirty="0">
                          <a:solidFill>
                            <a:schemeClr val="tx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Accuracy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dirty="0">
                          <a:solidFill>
                            <a:schemeClr val="tx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0.93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dirty="0">
                        <a:solidFill>
                          <a:schemeClr val="tx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81" name="Google Shape;181;p20"/>
          <p:cNvSpPr txBox="1"/>
          <p:nvPr/>
        </p:nvSpPr>
        <p:spPr>
          <a:xfrm>
            <a:off x="571500" y="4948237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Insight: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The clear winner. Recall jumped to 0.71, detecting ~18,800 toxic comments compared to ~15,000 for others.</a:t>
            </a:r>
            <a:endParaRPr/>
          </a:p>
        </p:txBody>
      </p:sp>
      <p:sp>
        <p:nvSpPr>
          <p:cNvPr id="182" name="Google Shape;182;p20"/>
          <p:cNvSpPr/>
          <p:nvPr/>
        </p:nvSpPr>
        <p:spPr>
          <a:xfrm>
            <a:off x="571500" y="3457575"/>
            <a:ext cx="27622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3333750" y="3457575"/>
            <a:ext cx="226531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5599062" y="3457575"/>
            <a:ext cx="16890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0"/>
          <p:cNvSpPr/>
          <p:nvPr/>
        </p:nvSpPr>
        <p:spPr>
          <a:xfrm>
            <a:off x="7288113" y="3457575"/>
            <a:ext cx="222557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0"/>
          <p:cNvSpPr/>
          <p:nvPr/>
        </p:nvSpPr>
        <p:spPr>
          <a:xfrm>
            <a:off x="9513689" y="3457575"/>
            <a:ext cx="210681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571500" y="4057650"/>
            <a:ext cx="27622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0"/>
          <p:cNvSpPr/>
          <p:nvPr/>
        </p:nvSpPr>
        <p:spPr>
          <a:xfrm>
            <a:off x="3333750" y="4057650"/>
            <a:ext cx="226531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5599062" y="4057650"/>
            <a:ext cx="168905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7288113" y="4057650"/>
            <a:ext cx="2225575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9513689" y="4057650"/>
            <a:ext cx="210681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571500" y="854964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818CF8"/>
                </a:solidFill>
                <a:latin typeface="Space Grotesk"/>
                <a:ea typeface="Space Grotesk"/>
                <a:cs typeface="Space Grotesk"/>
                <a:sym typeface="Space Grotesk"/>
              </a:rPr>
              <a:t>Model 3: Linear SVM (Best Model)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481137"/>
            <a:ext cx="5334000" cy="476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/>
        </p:nvSpPr>
        <p:spPr>
          <a:xfrm>
            <a:off x="571500" y="2526601"/>
            <a:ext cx="56007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C084FC"/>
                </a:solidFill>
                <a:latin typeface="Space Grotesk"/>
                <a:ea typeface="Space Grotesk"/>
                <a:cs typeface="Space Grotesk"/>
                <a:sym typeface="Space Grotesk"/>
              </a:rPr>
              <a:t>Training Analysis</a:t>
            </a:r>
            <a:endParaRPr dirty="0"/>
          </a:p>
        </p:txBody>
      </p:sp>
      <p:sp>
        <p:nvSpPr>
          <p:cNvPr id="201" name="Google Shape;201;p21"/>
          <p:cNvSpPr txBox="1"/>
          <p:nvPr/>
        </p:nvSpPr>
        <p:spPr>
          <a:xfrm>
            <a:off x="695325" y="310419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•</a:t>
            </a:r>
            <a:endParaRPr/>
          </a:p>
        </p:txBody>
      </p:sp>
      <p:sp>
        <p:nvSpPr>
          <p:cNvPr id="202" name="Google Shape;202;p21"/>
          <p:cNvSpPr txBox="1"/>
          <p:nvPr/>
        </p:nvSpPr>
        <p:spPr>
          <a:xfrm>
            <a:off x="762000" y="3021901"/>
            <a:ext cx="5143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Best generalization gap among all models.</a:t>
            </a:r>
            <a:endParaRPr/>
          </a:p>
        </p:txBody>
      </p:sp>
      <p:sp>
        <p:nvSpPr>
          <p:cNvPr id="203" name="Google Shape;203;p21"/>
          <p:cNvSpPr txBox="1"/>
          <p:nvPr/>
        </p:nvSpPr>
        <p:spPr>
          <a:xfrm>
            <a:off x="689801" y="377878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•</a:t>
            </a:r>
            <a:endParaRPr dirty="0"/>
          </a:p>
        </p:txBody>
      </p:sp>
      <p:sp>
        <p:nvSpPr>
          <p:cNvPr id="204" name="Google Shape;204;p21"/>
          <p:cNvSpPr txBox="1"/>
          <p:nvPr/>
        </p:nvSpPr>
        <p:spPr>
          <a:xfrm>
            <a:off x="756476" y="3696489"/>
            <a:ext cx="51435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Maximizing the margin allowed it to better handle the high-dimensional sparse data.</a:t>
            </a:r>
            <a:endParaRPr dirty="0"/>
          </a:p>
        </p:txBody>
      </p:sp>
      <p:sp>
        <p:nvSpPr>
          <p:cNvPr id="205" name="Google Shape;205;p21"/>
          <p:cNvSpPr txBox="1"/>
          <p:nvPr/>
        </p:nvSpPr>
        <p:spPr>
          <a:xfrm>
            <a:off x="677609" y="3442824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•</a:t>
            </a:r>
            <a:endParaRPr dirty="0"/>
          </a:p>
        </p:txBody>
      </p:sp>
      <p:sp>
        <p:nvSpPr>
          <p:cNvPr id="206" name="Google Shape;206;p21"/>
          <p:cNvSpPr txBox="1"/>
          <p:nvPr/>
        </p:nvSpPr>
        <p:spPr>
          <a:xfrm>
            <a:off x="744284" y="3360528"/>
            <a:ext cx="5143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Robust against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overfitting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despite the large feature space.</a:t>
            </a:r>
            <a:endParaRPr dirty="0"/>
          </a:p>
        </p:txBody>
      </p:sp>
      <p:sp>
        <p:nvSpPr>
          <p:cNvPr id="207" name="Google Shape;207;p21"/>
          <p:cNvSpPr txBox="1"/>
          <p:nvPr/>
        </p:nvSpPr>
        <p:spPr>
          <a:xfrm>
            <a:off x="571500" y="1182802"/>
            <a:ext cx="11601450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 smtClean="0">
                <a:solidFill>
                  <a:srgbClr val="818CF8"/>
                </a:solidFill>
                <a:latin typeface="Space Grotesk"/>
                <a:ea typeface="Space Grotesk"/>
                <a:cs typeface="Space Grotesk"/>
                <a:sym typeface="Space Grotesk"/>
              </a:rPr>
              <a:t>Learning </a:t>
            </a:r>
            <a:r>
              <a:rPr lang="en-US" sz="3600" b="1" i="0" u="none" strike="noStrike" cap="none" dirty="0">
                <a:solidFill>
                  <a:srgbClr val="818CF8"/>
                </a:solidFill>
                <a:latin typeface="Space Grotesk"/>
                <a:ea typeface="Space Grotesk"/>
                <a:cs typeface="Space Grotesk"/>
                <a:sym typeface="Space Grotesk"/>
              </a:rPr>
              <a:t>Curve</a:t>
            </a:r>
            <a:endParaRPr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3392" y="1428884"/>
            <a:ext cx="5943600" cy="399070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2"/>
          <p:cNvSpPr txBox="1"/>
          <p:nvPr/>
        </p:nvSpPr>
        <p:spPr>
          <a:xfrm>
            <a:off x="571500" y="571500"/>
            <a:ext cx="5200650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818CF8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Confusion Matrix Analysis</a:t>
            </a:r>
            <a:endParaRPr/>
          </a:p>
        </p:txBody>
      </p:sp>
      <p:sp>
        <p:nvSpPr>
          <p:cNvPr id="215" name="Google Shape;215;p22"/>
          <p:cNvSpPr txBox="1"/>
          <p:nvPr/>
        </p:nvSpPr>
        <p:spPr>
          <a:xfrm>
            <a:off x="571500" y="1857189"/>
            <a:ext cx="52006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C084FC"/>
                </a:solidFill>
                <a:latin typeface="Space Grotesk"/>
                <a:ea typeface="Space Grotesk"/>
                <a:cs typeface="Space Grotesk"/>
                <a:sym typeface="Space Grotesk"/>
              </a:rPr>
              <a:t>False Negatives (The Risk)</a:t>
            </a:r>
            <a:endParaRPr dirty="0"/>
          </a:p>
        </p:txBody>
      </p:sp>
      <p:sp>
        <p:nvSpPr>
          <p:cNvPr id="216" name="Google Shape;216;p22"/>
          <p:cNvSpPr txBox="1"/>
          <p:nvPr/>
        </p:nvSpPr>
        <p:spPr>
          <a:xfrm>
            <a:off x="6427470" y="67504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Logistic Regression: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Missed 11,616 toxic comments.</a:t>
            </a:r>
            <a:endParaRPr dirty="0"/>
          </a:p>
        </p:txBody>
      </p:sp>
      <p:sp>
        <p:nvSpPr>
          <p:cNvPr id="217" name="Google Shape;217;p22"/>
          <p:cNvSpPr txBox="1"/>
          <p:nvPr/>
        </p:nvSpPr>
        <p:spPr>
          <a:xfrm>
            <a:off x="6427470" y="1086520"/>
            <a:ext cx="4953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Linear SVM: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Reduced misses to 7,868.</a:t>
            </a:r>
            <a:endParaRPr dirty="0"/>
          </a:p>
        </p:txBody>
      </p:sp>
      <p:sp>
        <p:nvSpPr>
          <p:cNvPr id="218" name="Google Shape;218;p22"/>
          <p:cNvSpPr txBox="1"/>
          <p:nvPr/>
        </p:nvSpPr>
        <p:spPr>
          <a:xfrm>
            <a:off x="6427470" y="1461424"/>
            <a:ext cx="49530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SVM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provides a safer environment by catching 3,600+ more toxic instances than the others.</a:t>
            </a:r>
            <a:endParaRPr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515" y="2785824"/>
            <a:ext cx="10808970" cy="356273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" name="Google Shape;223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438275"/>
            <a:ext cx="11049000" cy="4848225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3"/>
          <p:cNvSpPr txBox="1"/>
          <p:nvPr/>
        </p:nvSpPr>
        <p:spPr>
          <a:xfrm>
            <a:off x="571500" y="46863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While all models have high accuracy, SVM leads with 92.62%.</a:t>
            </a:r>
            <a:endParaRPr/>
          </a:p>
        </p:txBody>
      </p:sp>
      <p:sp>
        <p:nvSpPr>
          <p:cNvPr id="226" name="Google Shape;226;p23"/>
          <p:cNvSpPr txBox="1"/>
          <p:nvPr/>
        </p:nvSpPr>
        <p:spPr>
          <a:xfrm>
            <a:off x="571500" y="1147762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818CF8"/>
                </a:solidFill>
                <a:latin typeface="Space Grotesk"/>
                <a:ea typeface="Space Grotesk"/>
                <a:cs typeface="Space Grotesk"/>
                <a:sym typeface="Space Grotesk"/>
              </a:rPr>
              <a:t>Comparative Analysis: Accuracy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438275"/>
            <a:ext cx="11049000" cy="4848225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4"/>
          <p:cNvSpPr txBox="1"/>
          <p:nvPr/>
        </p:nvSpPr>
        <p:spPr>
          <a:xfrm>
            <a:off x="571500" y="468630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Trade-off: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SVM is ~130x slower than Naive Bayes, but 77 seconds is negligible for offline training given the performance boost.</a:t>
            </a:r>
            <a:endParaRPr/>
          </a:p>
        </p:txBody>
      </p:sp>
      <p:sp>
        <p:nvSpPr>
          <p:cNvPr id="234" name="Google Shape;234;p24"/>
          <p:cNvSpPr txBox="1"/>
          <p:nvPr/>
        </p:nvSpPr>
        <p:spPr>
          <a:xfrm>
            <a:off x="571500" y="1147762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818CF8"/>
                </a:solidFill>
                <a:latin typeface="Space Grotesk"/>
                <a:ea typeface="Space Grotesk"/>
                <a:cs typeface="Space Grotesk"/>
                <a:sym typeface="Space Grotesk"/>
              </a:rPr>
              <a:t>Computational Efficiency (Training Time)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" name="Google Shape;239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40" name="Google Shape;240;p25"/>
          <p:cNvGraphicFramePr/>
          <p:nvPr>
            <p:extLst>
              <p:ext uri="{D42A27DB-BD31-4B8C-83A1-F6EECF244321}">
                <p14:modId xmlns:p14="http://schemas.microsoft.com/office/powerpoint/2010/main" val="3029122773"/>
              </p:ext>
            </p:extLst>
          </p:nvPr>
        </p:nvGraphicFramePr>
        <p:xfrm>
          <a:off x="571500" y="1828800"/>
          <a:ext cx="11049000" cy="2981375"/>
        </p:xfrm>
        <a:graphic>
          <a:graphicData uri="http://schemas.openxmlformats.org/drawingml/2006/table">
            <a:tbl>
              <a:tblPr firstRow="1" bandRow="1">
                <a:noFill/>
                <a:tableStyleId>{68C92203-B958-4A04-8D94-A8DE62B5F20D}</a:tableStyleId>
              </a:tblPr>
              <a:tblGrid>
                <a:gridCol w="3344775"/>
                <a:gridCol w="2282575"/>
                <a:gridCol w="3265425"/>
                <a:gridCol w="2156225"/>
              </a:tblGrid>
              <a:tr h="596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dirty="0">
                          <a:solidFill>
                            <a:srgbClr val="F1F5F9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Input Text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>
                          <a:solidFill>
                            <a:srgbClr val="F1F5F9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Naive Bayes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>
                          <a:solidFill>
                            <a:srgbClr val="F1F5F9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Logistic Regression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>
                          <a:solidFill>
                            <a:srgbClr val="F1F5F9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Linear SVM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334155"/>
                    </a:solidFill>
                  </a:tcPr>
                </a:tc>
              </a:tr>
              <a:tr h="596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smtClean="0">
                          <a:solidFill>
                            <a:schemeClr val="tx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“We are </a:t>
                      </a:r>
                      <a:r>
                        <a:rPr lang="en-US" sz="1500" b="0" i="0" u="none" dirty="0">
                          <a:solidFill>
                            <a:schemeClr val="tx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worthless"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>
                          <a:solidFill>
                            <a:srgbClr val="EF4444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Hate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>
                          <a:solidFill>
                            <a:srgbClr val="EF4444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Hate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>
                          <a:solidFill>
                            <a:srgbClr val="EF4444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Hate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96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dirty="0">
                          <a:solidFill>
                            <a:schemeClr val="tx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"I love this country"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dirty="0">
                          <a:solidFill>
                            <a:srgbClr val="22C55E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Not Hate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>
                          <a:solidFill>
                            <a:srgbClr val="22C55E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Not Hate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>
                          <a:solidFill>
                            <a:srgbClr val="22C55E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Not Hate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96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dirty="0">
                          <a:solidFill>
                            <a:schemeClr val="tx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"You are stupid idiot"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>
                          <a:solidFill>
                            <a:srgbClr val="EF4444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Hate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>
                          <a:solidFill>
                            <a:srgbClr val="EF4444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Hate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>
                          <a:solidFill>
                            <a:srgbClr val="EF4444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Hate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5962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 dirty="0">
                          <a:solidFill>
                            <a:schemeClr val="tx1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"Have a great day"</a:t>
                      </a:r>
                      <a:endParaRPr dirty="0">
                        <a:solidFill>
                          <a:schemeClr val="tx1"/>
                        </a:solidFill>
                      </a:endParaRPr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>
                          <a:solidFill>
                            <a:srgbClr val="22C55E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Not Hate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i="0" u="none">
                          <a:solidFill>
                            <a:srgbClr val="22C55E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Not Hate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>
                          <a:solidFill>
                            <a:srgbClr val="22C55E"/>
                          </a:solidFill>
                          <a:latin typeface="Outfit"/>
                          <a:ea typeface="Outfit"/>
                          <a:cs typeface="Outfit"/>
                          <a:sym typeface="Outfit"/>
                        </a:rPr>
                        <a:t>Not Hate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241" name="Google Shape;241;p25"/>
          <p:cNvSpPr txBox="1"/>
          <p:nvPr/>
        </p:nvSpPr>
        <p:spPr>
          <a:xfrm>
            <a:off x="571500" y="5095875"/>
            <a:ext cx="11049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All models successfully distinguished between sentiment </a:t>
            </a:r>
            <a:r>
              <a:rPr lang="en-US" sz="1500" b="0" i="0" u="none" strike="noStrike" cap="none" dirty="0" smtClean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and 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didn't just flag "negative" words, proving semantic understanding.</a:t>
            </a:r>
            <a:endParaRPr dirty="0"/>
          </a:p>
        </p:txBody>
      </p:sp>
      <p:sp>
        <p:nvSpPr>
          <p:cNvPr id="242" name="Google Shape;242;p25"/>
          <p:cNvSpPr/>
          <p:nvPr/>
        </p:nvSpPr>
        <p:spPr>
          <a:xfrm>
            <a:off x="571500" y="3005137"/>
            <a:ext cx="334476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5"/>
          <p:cNvSpPr/>
          <p:nvPr/>
        </p:nvSpPr>
        <p:spPr>
          <a:xfrm>
            <a:off x="3916263" y="3005137"/>
            <a:ext cx="228257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5"/>
          <p:cNvSpPr/>
          <p:nvPr/>
        </p:nvSpPr>
        <p:spPr>
          <a:xfrm>
            <a:off x="6198840" y="3005137"/>
            <a:ext cx="326543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5"/>
          <p:cNvSpPr/>
          <p:nvPr/>
        </p:nvSpPr>
        <p:spPr>
          <a:xfrm>
            <a:off x="9464278" y="3005137"/>
            <a:ext cx="215622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5"/>
          <p:cNvSpPr/>
          <p:nvPr/>
        </p:nvSpPr>
        <p:spPr>
          <a:xfrm>
            <a:off x="571500" y="3605212"/>
            <a:ext cx="334476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5"/>
          <p:cNvSpPr/>
          <p:nvPr/>
        </p:nvSpPr>
        <p:spPr>
          <a:xfrm>
            <a:off x="3916263" y="3605212"/>
            <a:ext cx="228257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5"/>
          <p:cNvSpPr/>
          <p:nvPr/>
        </p:nvSpPr>
        <p:spPr>
          <a:xfrm>
            <a:off x="6198840" y="3605212"/>
            <a:ext cx="326543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5"/>
          <p:cNvSpPr/>
          <p:nvPr/>
        </p:nvSpPr>
        <p:spPr>
          <a:xfrm>
            <a:off x="9464278" y="3605212"/>
            <a:ext cx="215622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5"/>
          <p:cNvSpPr/>
          <p:nvPr/>
        </p:nvSpPr>
        <p:spPr>
          <a:xfrm>
            <a:off x="571500" y="4205287"/>
            <a:ext cx="3344763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5"/>
          <p:cNvSpPr/>
          <p:nvPr/>
        </p:nvSpPr>
        <p:spPr>
          <a:xfrm>
            <a:off x="3916263" y="4205287"/>
            <a:ext cx="2282576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25"/>
          <p:cNvSpPr/>
          <p:nvPr/>
        </p:nvSpPr>
        <p:spPr>
          <a:xfrm>
            <a:off x="6198840" y="4205287"/>
            <a:ext cx="326543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25"/>
          <p:cNvSpPr/>
          <p:nvPr/>
        </p:nvSpPr>
        <p:spPr>
          <a:xfrm>
            <a:off x="9464278" y="4205287"/>
            <a:ext cx="2156221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5"/>
          <p:cNvSpPr txBox="1"/>
          <p:nvPr/>
        </p:nvSpPr>
        <p:spPr>
          <a:xfrm>
            <a:off x="571500" y="690372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818CF8"/>
                </a:solidFill>
                <a:latin typeface="Space Grotesk"/>
                <a:ea typeface="Space Grotesk"/>
                <a:cs typeface="Space Grotesk"/>
                <a:sym typeface="Space Grotesk"/>
              </a:rPr>
              <a:t>Prediction on External Text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93B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6"/>
          <p:cNvSpPr txBox="1"/>
          <p:nvPr/>
        </p:nvSpPr>
        <p:spPr>
          <a:xfrm>
            <a:off x="571500" y="985457"/>
            <a:ext cx="5200650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818CF8"/>
                </a:solidFill>
                <a:latin typeface="Space Grotesk"/>
                <a:ea typeface="Space Grotesk"/>
                <a:cs typeface="Space Grotesk"/>
                <a:sym typeface="Space Grotesk"/>
              </a:rPr>
              <a:t>Real-Time Deployment</a:t>
            </a:r>
            <a:endParaRPr dirty="0"/>
          </a:p>
        </p:txBody>
      </p:sp>
      <p:sp>
        <p:nvSpPr>
          <p:cNvPr id="262" name="Google Shape;262;p26"/>
          <p:cNvSpPr txBox="1"/>
          <p:nvPr/>
        </p:nvSpPr>
        <p:spPr>
          <a:xfrm>
            <a:off x="571500" y="2102358"/>
            <a:ext cx="52006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C084FC"/>
                </a:solidFill>
                <a:latin typeface="Space Grotesk"/>
                <a:ea typeface="Space Grotesk"/>
                <a:cs typeface="Space Grotesk"/>
                <a:sym typeface="Space Grotesk"/>
              </a:rPr>
              <a:t>Gradio Web Interface</a:t>
            </a:r>
            <a:endParaRPr dirty="0"/>
          </a:p>
        </p:txBody>
      </p:sp>
      <p:sp>
        <p:nvSpPr>
          <p:cNvPr id="263" name="Google Shape;263;p26"/>
          <p:cNvSpPr txBox="1"/>
          <p:nvPr/>
        </p:nvSpPr>
        <p:spPr>
          <a:xfrm>
            <a:off x="571500" y="2778633"/>
            <a:ext cx="4953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We deployed the models using Gradio to simulate a real-world moderation dashboard.</a:t>
            </a:r>
            <a:endParaRPr dirty="0"/>
          </a:p>
        </p:txBody>
      </p:sp>
      <p:sp>
        <p:nvSpPr>
          <p:cNvPr id="264" name="Google Shape;264;p26"/>
          <p:cNvSpPr txBox="1"/>
          <p:nvPr/>
        </p:nvSpPr>
        <p:spPr>
          <a:xfrm>
            <a:off x="695325" y="3878961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•</a:t>
            </a:r>
            <a:endParaRPr dirty="0"/>
          </a:p>
        </p:txBody>
      </p:sp>
      <p:sp>
        <p:nvSpPr>
          <p:cNvPr id="265" name="Google Shape;265;p26"/>
          <p:cNvSpPr txBox="1"/>
          <p:nvPr/>
        </p:nvSpPr>
        <p:spPr>
          <a:xfrm>
            <a:off x="762000" y="3769233"/>
            <a:ext cx="4762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Allows side-by-side comparison.</a:t>
            </a:r>
            <a:endParaRPr dirty="0"/>
          </a:p>
        </p:txBody>
      </p:sp>
      <p:sp>
        <p:nvSpPr>
          <p:cNvPr id="266" name="Google Shape;266;p26"/>
          <p:cNvSpPr txBox="1"/>
          <p:nvPr/>
        </p:nvSpPr>
        <p:spPr>
          <a:xfrm>
            <a:off x="695325" y="4284345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•</a:t>
            </a:r>
            <a:endParaRPr dirty="0"/>
          </a:p>
        </p:txBody>
      </p:sp>
      <p:sp>
        <p:nvSpPr>
          <p:cNvPr id="267" name="Google Shape;267;p26"/>
          <p:cNvSpPr txBox="1"/>
          <p:nvPr/>
        </p:nvSpPr>
        <p:spPr>
          <a:xfrm>
            <a:off x="762000" y="4199477"/>
            <a:ext cx="4762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Visualizes confidence scores.</a:t>
            </a:r>
            <a:endParaRPr/>
          </a:p>
        </p:txBody>
      </p:sp>
      <p:sp>
        <p:nvSpPr>
          <p:cNvPr id="268" name="Google Shape;268;p26"/>
          <p:cNvSpPr txBox="1"/>
          <p:nvPr/>
        </p:nvSpPr>
        <p:spPr>
          <a:xfrm>
            <a:off x="695325" y="4739449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•</a:t>
            </a:r>
            <a:endParaRPr dirty="0"/>
          </a:p>
        </p:txBody>
      </p:sp>
      <p:sp>
        <p:nvSpPr>
          <p:cNvPr id="269" name="Google Shape;269;p26"/>
          <p:cNvSpPr txBox="1"/>
          <p:nvPr/>
        </p:nvSpPr>
        <p:spPr>
          <a:xfrm>
            <a:off x="762000" y="4629721"/>
            <a:ext cx="47625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66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Enables human-in-the-loop verification for edge cases.</a:t>
            </a:r>
            <a:endParaRPr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6450" y="1655914"/>
            <a:ext cx="5943600" cy="3546173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533525"/>
            <a:ext cx="5334000" cy="4752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1533525"/>
            <a:ext cx="5334000" cy="4752975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8"/>
          <p:cNvSpPr txBox="1"/>
          <p:nvPr/>
        </p:nvSpPr>
        <p:spPr>
          <a:xfrm>
            <a:off x="962025" y="2371725"/>
            <a:ext cx="4780597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19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C084FC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Conclusion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962025" y="3048000"/>
            <a:ext cx="45529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The Linear SVM proved to be the most robust model, offering the best balance between precision and recall (Accuracy: 92.62%).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962025" y="4343400"/>
            <a:ext cx="45529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We successfully deployed the model using a </a:t>
            </a:r>
            <a:r>
              <a:rPr lang="en-US" sz="1500" b="1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Gradio web interface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, enabling real-time side-by-side comparison of model predictions.</a:t>
            </a:r>
            <a:endParaRPr dirty="0"/>
          </a:p>
        </p:txBody>
      </p:sp>
      <p:sp>
        <p:nvSpPr>
          <p:cNvPr id="163" name="Google Shape;163;p18"/>
          <p:cNvSpPr txBox="1"/>
          <p:nvPr/>
        </p:nvSpPr>
        <p:spPr>
          <a:xfrm>
            <a:off x="6677025" y="2457450"/>
            <a:ext cx="4780597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0005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C084FC"/>
                </a:solidFill>
                <a:latin typeface="Space Grotesk"/>
                <a:ea typeface="Space Grotesk"/>
                <a:cs typeface="Space Grotesk"/>
                <a:sym typeface="Space Grotesk"/>
              </a:rPr>
              <a:t>Future Work</a:t>
            </a:r>
            <a:endParaRPr/>
          </a:p>
        </p:txBody>
      </p:sp>
      <p:pic>
        <p:nvPicPr>
          <p:cNvPr id="164" name="Google Shape;164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62025" y="2409825"/>
            <a:ext cx="266700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677025" y="2495550"/>
            <a:ext cx="3048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8"/>
          <p:cNvSpPr txBox="1"/>
          <p:nvPr/>
        </p:nvSpPr>
        <p:spPr>
          <a:xfrm>
            <a:off x="6677025" y="3022473"/>
            <a:ext cx="45529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90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Deep Learning: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Implement BERT for better context understanding.</a:t>
            </a:r>
            <a:endParaRPr dirty="0"/>
          </a:p>
        </p:txBody>
      </p:sp>
      <p:sp>
        <p:nvSpPr>
          <p:cNvPr id="167" name="Google Shape;167;p18"/>
          <p:cNvSpPr txBox="1"/>
          <p:nvPr/>
        </p:nvSpPr>
        <p:spPr>
          <a:xfrm>
            <a:off x="6677025" y="3774948"/>
            <a:ext cx="45529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90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Data Augmentation: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Use SMOTE to fix class imbalance.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6677025" y="4527423"/>
            <a:ext cx="45529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9075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Multiclass: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 Detect specific types (Racism vs. Sexism).</a:t>
            </a:r>
            <a:endParaRPr/>
          </a:p>
        </p:txBody>
      </p:sp>
      <p:pic>
        <p:nvPicPr>
          <p:cNvPr id="169" name="Google Shape;169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677025" y="3152775"/>
            <a:ext cx="1238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677025" y="3905250"/>
            <a:ext cx="123825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677025" y="4657725"/>
            <a:ext cx="123825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8"/>
          <p:cNvSpPr txBox="1"/>
          <p:nvPr/>
        </p:nvSpPr>
        <p:spPr>
          <a:xfrm>
            <a:off x="571500" y="571500"/>
            <a:ext cx="11601450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818CF8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Conclusion &amp; Future Work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73320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9"/>
          <p:cNvSpPr txBox="1"/>
          <p:nvPr/>
        </p:nvSpPr>
        <p:spPr>
          <a:xfrm>
            <a:off x="295275" y="2481262"/>
            <a:ext cx="11601450" cy="1181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60000"/>
              </a:lnSpc>
            </a:pPr>
            <a:r>
              <a:rPr lang="en-US" sz="4800" dirty="0">
                <a:solidFill>
                  <a:srgbClr val="CBD5E1"/>
                </a:solidFill>
                <a:latin typeface="Outfit"/>
                <a:ea typeface="Outfit"/>
                <a:cs typeface="Outfit"/>
                <a:sym typeface="Outfit"/>
              </a:rPr>
              <a:t>Thank you for your attention.</a:t>
            </a:r>
            <a:endParaRPr lang="en-US" sz="4800" dirty="0"/>
          </a:p>
        </p:txBody>
      </p:sp>
    </p:spTree>
    <p:extLst>
      <p:ext uri="{BB962C8B-B14F-4D97-AF65-F5344CB8AC3E}">
        <p14:creationId xmlns:p14="http://schemas.microsoft.com/office/powerpoint/2010/main" val="4213640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81</TotalTime>
  <Words>836</Words>
  <Application>Microsoft Office PowerPoint</Application>
  <PresentationFormat>Widescreen</PresentationFormat>
  <Paragraphs>160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Calibri</vt:lpstr>
      <vt:lpstr>Outfit</vt:lpstr>
      <vt:lpstr>Space Grotesk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Microsoft account</cp:lastModifiedBy>
  <cp:revision>13</cp:revision>
  <dcterms:modified xsi:type="dcterms:W3CDTF">2025-11-23T13:13:24Z</dcterms:modified>
</cp:coreProperties>
</file>